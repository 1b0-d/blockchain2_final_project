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EF2FF"/>
                </a:solidFill>
                <a:latin typeface="Aptos"/>
              </a:rPr>
              <a:t>GameFi Economy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4B1CC"/>
                </a:solidFill>
                <a:latin typeface="Aptos"/>
              </a:rPr>
              <a:t>On-chain economy layer for blockchain games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38528"/>
            <a:ext cx="1874519" cy="32918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 B: GameFi 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938528"/>
            <a:ext cx="1417320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Arbitrum Sepolia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938528"/>
            <a:ext cx="219456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React + Foundry + The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ERC1155 resources and crafted items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Custom constant-product AMM for resource swaps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UUPS-upgradeable crafting and ERC4626 vault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DAO governance with Governor + Timelock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685800"/>
            <a:ext cx="5212080" cy="51663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Снимок экрана 2026-05-19 021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06988"/>
            <a:ext cx="5212080" cy="29239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Problem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A reusable economy layer, not a full game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7472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EF2FF"/>
                </a:solidFill>
                <a:latin typeface="Aptos"/>
              </a:rPr>
              <a:t>Game economies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transparent ownership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player-driven markets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secure item lifecycle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upgrade path after launch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7472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EF2FF"/>
                </a:solidFill>
                <a:latin typeface="Aptos"/>
              </a:rPr>
              <a:t>Our protocol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880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fungible and non-fungible game assets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AMM trading for resources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crafting progression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governed parameters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08760"/>
            <a:ext cx="324612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EF2FF"/>
                </a:solidFill>
                <a:latin typeface="Aptos"/>
              </a:rPr>
              <a:t>Demo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live wallet connection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network detection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resource swap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crafting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Contract modules and external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828800" cy="40233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2FF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514600"/>
            <a:ext cx="1508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B1CC"/>
                </a:solidFill>
                <a:latin typeface="Aptos"/>
              </a:rPr>
              <a:t>React/Vite dApp
MetaMask + ethers.js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00200"/>
            <a:ext cx="1828800" cy="40233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2FF"/>
                </a:solidFill>
                <a:latin typeface="Aptos"/>
              </a:rPr>
              <a:t>Economy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514600"/>
            <a:ext cx="1508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B1CC"/>
                </a:solidFill>
                <a:latin typeface="Aptos"/>
              </a:rPr>
              <a:t>GameItems ERC1155
ResourceAMM x*y=k
Crafting UUPS proxy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00200"/>
            <a:ext cx="1828800" cy="40233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2FF"/>
                </a:solidFill>
                <a:latin typeface="Aptos"/>
              </a:rPr>
              <a:t>Token &amp; 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2514600"/>
            <a:ext cx="1508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B1CC"/>
                </a:solidFill>
                <a:latin typeface="Aptos"/>
              </a:rPr>
              <a:t>GameToken ERC20Votes/Permit
GameVault ERC4626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00200"/>
            <a:ext cx="1828800" cy="40233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2FF"/>
                </a:solidFill>
                <a:latin typeface="Apto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14600"/>
            <a:ext cx="1508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B1CC"/>
                </a:solidFill>
                <a:latin typeface="Aptos"/>
              </a:rPr>
              <a:t>GameGovernor
TimelockController
GameTreasury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00200"/>
            <a:ext cx="1828800" cy="40233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F2FF"/>
                </a:solidFill>
                <a:latin typeface="Aptos"/>
              </a:rPr>
              <a:t>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514600"/>
            <a:ext cx="1508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B1CC"/>
                </a:solidFill>
                <a:latin typeface="Aptos"/>
              </a:rPr>
              <a:t>Chainlink oracle / VRF flow
The Graph subgraph
CREATE2 factory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3375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>
                <a:solidFill>
                  <a:srgbClr val="38BDF8"/>
                </a:solidFill>
                <a:latin typeface="Apto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33375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>
                <a:solidFill>
                  <a:srgbClr val="38BDF8"/>
                </a:solidFill>
                <a:latin typeface="Aptos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3375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>
                <a:solidFill>
                  <a:srgbClr val="38BDF8"/>
                </a:solidFill>
                <a:latin typeface="Apto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33375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>
                <a:solidFill>
                  <a:srgbClr val="38BDF8"/>
                </a:solidFill>
                <a:latin typeface="Aptos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Core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Standards and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GameToken: ERC20Votes + ERC20Permit governance token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GameItems: ERC1155 resources (WOOD, IRON, CRYSTAL) and crafted items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GameVault: ERC4626 deposit/share accounting for GAME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ResourceAMM: custom x*y=k ERC1155 AMM with 0.3% fee and slippage guard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Crafting: UUPS upgradeable recipe system behind ERC1967Proxy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371600"/>
            <a:ext cx="5760720" cy="45262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Снимок экрана 2026-05-19 02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30536"/>
            <a:ext cx="5760720" cy="42084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AMM &amp; Crafting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Live demo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4663440" cy="44805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EF2FF"/>
                </a:solidFill>
                <a:latin typeface="Aptos"/>
              </a:rPr>
              <a:t>Swap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1. </a:t>
            </a:r>
            <a:r>
              <a:rPr sz="1400">
                <a:solidFill>
                  <a:srgbClr val="EEF2FF"/>
                </a:solidFill>
                <a:latin typeface="Aptos"/>
              </a:rPr>
              <a:t>User approves ResourceAMM as ERC1155 operator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2. </a:t>
            </a:r>
            <a:r>
              <a:rPr sz="1400">
                <a:solidFill>
                  <a:srgbClr val="EEF2FF"/>
                </a:solidFill>
                <a:latin typeface="Aptos"/>
              </a:rPr>
              <a:t>swap(tokenIn, amountIn, minOut) executes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3. </a:t>
            </a:r>
            <a:r>
              <a:rPr sz="1400">
                <a:solidFill>
                  <a:srgbClr val="EEF2FF"/>
                </a:solidFill>
                <a:latin typeface="Aptos"/>
              </a:rPr>
              <a:t>AMM applies fee and updates reserves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4. </a:t>
            </a:r>
            <a:r>
              <a:rPr sz="1400">
                <a:solidFill>
                  <a:srgbClr val="EEF2FF"/>
                </a:solidFill>
                <a:latin typeface="Aptos"/>
              </a:rPr>
              <a:t>User receives opposite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2FF"/>
                </a:solidFill>
                <a:latin typeface="Aptos"/>
              </a:rPr>
              <a:t>Craft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4B1CC"/>
                </a:solidFill>
                <a:latin typeface="Aptos"/>
              </a:rPr>
              <a:t>Recipe #0: 3 WOOD + 2 IRON -&gt; 1 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371600"/>
            <a:ext cx="5989320" cy="45262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Снимок экрана 2026-05-19 021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954732"/>
            <a:ext cx="5989320" cy="33600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DAO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Governor + TimelockController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Voting token: GAME with ERC20Votes checkpoints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Voting delay: 7,200 blocks, about 1 day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Voting period: 50,400 blocks, about 1 week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Quorum: 4%; proposal threshold: 1%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Timelock delay: 2 days before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4480560" cy="91440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983480"/>
            <a:ext cx="4151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2DCFF"/>
                </a:solidFill>
                <a:latin typeface="Consolas"/>
              </a:rPr>
              <a:t>Propose -&gt; Vote -&gt; Queue -&gt; Execute
Timelock owns treasury actions and delayed parameter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760720" cy="45262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Снимок экрана 2026-05-19 022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79515"/>
            <a:ext cx="5760720" cy="3910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Advanced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Mandatory course components covered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417320" cy="32918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UUPS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4475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2FF"/>
                </a:solidFill>
                <a:latin typeface="Aptos"/>
              </a:rPr>
              <a:t>CraftingV1 -&gt; CraftingV2 upgrade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03704"/>
            <a:ext cx="141732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CREATE / CREATE2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3113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2FF"/>
                </a:solidFill>
                <a:latin typeface="Aptos"/>
              </a:rPr>
              <a:t>ItemPoolFactory standard and deterministic pool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0088"/>
            <a:ext cx="1417320" cy="32918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Yul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1752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2FF"/>
                </a:solidFill>
                <a:latin typeface="Aptos"/>
              </a:rPr>
              <a:t>YulUtils and AMM sqrt math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76472"/>
            <a:ext cx="141732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Chainlink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0390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2FF"/>
                </a:solidFill>
                <a:latin typeface="Aptos"/>
              </a:rPr>
              <a:t>Price feed wrapper with staleness checks; VRF-compatible loot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62856"/>
            <a:ext cx="1417320" cy="32918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9028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EF2FF"/>
                </a:solidFill>
                <a:latin typeface="Aptos"/>
              </a:rPr>
              <a:t>Subgraph schema for swaps, crafting, rentals, loot and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234440"/>
            <a:ext cx="4800600" cy="21945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Снимок экрана 2026-05-19 02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191" y="1234440"/>
            <a:ext cx="3113016" cy="21945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29400" y="3703320"/>
            <a:ext cx="4800600" cy="196596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Снимок экрана 2026-05-19 0231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700" y="3703320"/>
            <a:ext cx="2851999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Foundry, frontend, subgraph and security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892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Unit, fuzz, invariant and optional fork tests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Current local snapshot: 87 passed, 0 failed, 3 skipped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Frontend build passes with React/Vite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Subgraph build passes with generated ABIs and mappings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  <a:latin typeface="Aptos"/>
              </a:rPr>
              <a:t>? </a:t>
            </a:r>
            <a:r>
              <a:rPr sz="1500">
                <a:solidFill>
                  <a:srgbClr val="EEF2FF"/>
                </a:solidFill>
                <a:latin typeface="Aptos"/>
              </a:rPr>
              <a:t>Slither high-severity gate included in 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80160"/>
            <a:ext cx="5806440" cy="214884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Снимок экрана 2026-05-19 021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543" y="1280160"/>
            <a:ext cx="3089352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0" y="3703320"/>
            <a:ext cx="5806440" cy="205740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Снимок экрана 2026-05-19 0212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956" y="3703320"/>
            <a:ext cx="2926526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Foundry broadcast output and frontend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983480" cy="443484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F2FF"/>
                </a:solidFill>
                <a:latin typeface="Aptos"/>
              </a:rPr>
              <a:t>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4434840" cy="22402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410565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D2DCFF"/>
                </a:solidFill>
                <a:latin typeface="Consolas"/>
              </a:rPr>
              <a:t>Arbitrum Sepolia
Chain ID: 421614
ResourceAMM: 0x69e951e9cf90c8d116b59276b3b68ae548fa9920
Crafting proxy: 0x9d2b2608cd9cb1abfe026f5800d5f0f6f5cf427b
GameItems: 0x044b55374010b4b06cb39afdc88f8c7444258f87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4251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ptos"/>
              </a:rPr>
              <a:t>? </a:t>
            </a:r>
            <a:r>
              <a:rPr sz="1200">
                <a:solidFill>
                  <a:srgbClr val="EEF2FF"/>
                </a:solidFill>
                <a:latin typeface="Aptos"/>
              </a:rPr>
              <a:t>Addresses copied from run-latest.json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ptos"/>
              </a:rPr>
              <a:t>? </a:t>
            </a:r>
            <a:r>
              <a:rPr sz="1200">
                <a:solidFill>
                  <a:srgbClr val="EEF2FF"/>
                </a:solidFill>
                <a:latin typeface="Aptos"/>
              </a:rPr>
              <a:t>Frontend checks chain and prompts switch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38BDF8"/>
                </a:solidFill>
                <a:latin typeface="Aptos"/>
              </a:rPr>
              <a:t>? </a:t>
            </a:r>
            <a:r>
              <a:rPr sz="1200">
                <a:solidFill>
                  <a:srgbClr val="EEF2FF"/>
                </a:solidFill>
                <a:latin typeface="Aptos"/>
              </a:rPr>
              <a:t>DemoSetup seeded resources, AMM liquidity and recipe #0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371600"/>
            <a:ext cx="5532120" cy="45262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Снимок экрана 2026-05-19 021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714438"/>
            <a:ext cx="5532120" cy="38406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Frontend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MetaMask + deployed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577840" cy="45262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Снимок экрана 2026-05-19 021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8712"/>
            <a:ext cx="5577840" cy="31291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417320"/>
            <a:ext cx="507492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EF2FF"/>
                </a:solidFill>
                <a:latin typeface="Aptos"/>
              </a:rPr>
              <a:t>Live demo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240280"/>
            <a:ext cx="4251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1. </a:t>
            </a:r>
            <a:r>
              <a:rPr sz="1400">
                <a:solidFill>
                  <a:srgbClr val="EEF2FF"/>
                </a:solidFill>
                <a:latin typeface="Aptos"/>
              </a:rPr>
              <a:t>Connect MetaMask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2. </a:t>
            </a:r>
            <a:r>
              <a:rPr sz="1400">
                <a:solidFill>
                  <a:srgbClr val="EEF2FF"/>
                </a:solidFill>
                <a:latin typeface="Aptos"/>
              </a:rPr>
              <a:t>Switch to Arbitrum Sepolia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3. </a:t>
            </a:r>
            <a:r>
              <a:rPr sz="1400">
                <a:solidFill>
                  <a:srgbClr val="EEF2FF"/>
                </a:solidFill>
                <a:latin typeface="Aptos"/>
              </a:rPr>
              <a:t>Read WOOD/IRON balances and pool reserves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4. </a:t>
            </a:r>
            <a:r>
              <a:rPr sz="1400">
                <a:solidFill>
                  <a:srgbClr val="EEF2FF"/>
                </a:solidFill>
                <a:latin typeface="Aptos"/>
              </a:rPr>
              <a:t>Swap a small amount: 1 or 2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5CFF"/>
                </a:solidFill>
                <a:latin typeface="Aptos"/>
              </a:rPr>
              <a:t>5. </a:t>
            </a:r>
            <a:r>
              <a:rPr sz="1400">
                <a:solidFill>
                  <a:srgbClr val="EEF2FF"/>
                </a:solidFill>
                <a:latin typeface="Aptos"/>
              </a:rPr>
              <a:t>Open Crafting and craft recipe #0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Aptos"/>
              </a:rPr>
              <a:t>Avoid Vault unless the demo wallet has GAME tokens.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Team Presentation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3 speakers, clean responsibility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3756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143000" cy="32918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Speaker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042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2FF"/>
                </a:solidFill>
                <a:latin typeface="Aptos"/>
              </a:rPr>
              <a:t>Smart Contracts /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GameToken, GameItems, GameVault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ResourceAMM and Crafting UUPS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Explain protocol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783080"/>
            <a:ext cx="114300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Speaker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042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2FF"/>
                </a:solidFill>
                <a:latin typeface="Aptos"/>
              </a:rPr>
              <a:t>Governance / Advanced /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Governor + Timelock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CREATE2, Yul, Chainlink, subgraph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Test and security 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337560" cy="4297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1783080"/>
            <a:ext cx="1143000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Speaker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042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F2FF"/>
                </a:solidFill>
                <a:latin typeface="Aptos"/>
              </a:rPr>
              <a:t>Frontend / 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71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MetaMask and network detection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contracts.ts deployment addresses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8BDF8"/>
                </a:solidFill>
                <a:latin typeface="Aptos"/>
              </a:rPr>
              <a:t>? </a:t>
            </a:r>
            <a:r>
              <a:rPr sz="1300">
                <a:solidFill>
                  <a:srgbClr val="EEF2FF"/>
                </a:solidFill>
                <a:latin typeface="Aptos"/>
              </a:rPr>
              <a:t>Swap + Craft live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What the live demo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Contracts are deployed on an L2 testnet and wired into the frontend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The dApp reads real ERC1155 balances and AMM reserves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Swap and crafting execute as wallet-confirmed transactions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Architecture covers required standards, governance, oracles, indexing and advanced Solidity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8BDF8"/>
                </a:solidFill>
                <a:latin typeface="Aptos"/>
              </a:rPr>
              <a:t>? </a:t>
            </a:r>
            <a:r>
              <a:rPr sz="1700">
                <a:solidFill>
                  <a:srgbClr val="EEF2FF"/>
                </a:solidFill>
                <a:latin typeface="Aptos"/>
              </a:rPr>
              <a:t>Remaining production work: verification links, real VRF subscription, stronger vault/rental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2331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7C5CFF"/>
                </a:solidFill>
                <a:latin typeface="Aptos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4B1CC"/>
                </a:solidFill>
                <a:latin typeface="Aptos"/>
              </a:rPr>
              <a:t>Be ready to explain each module at architecture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F"/>
                </a:solidFill>
                <a:latin typeface="Aptos"/>
              </a:rPr>
              <a:t>Appendix: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953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1CC"/>
                </a:solidFill>
                <a:latin typeface="Aptos"/>
              </a:rPr>
              <a:t>Code, tests, UI and repository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051560" cy="4114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520440" cy="2011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Снимок экрана 2026-05-19 021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98" y="1325880"/>
            <a:ext cx="2897683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55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4B1CC"/>
                </a:solidFill>
                <a:latin typeface="Aptos"/>
              </a:rPr>
              <a:t>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520440" cy="2011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Снимок экрана 2026-05-19 0212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259" y="1325880"/>
            <a:ext cx="28921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3355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4B1CC"/>
                </a:solidFill>
                <a:latin typeface="Aptos"/>
              </a:rPr>
              <a:t>Screenshot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520440" cy="2011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Снимок экрана 2026-05-19 0212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793" y="1325880"/>
            <a:ext cx="2861492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5320" y="3355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4B1CC"/>
                </a:solidFill>
                <a:latin typeface="Aptos"/>
              </a:rPr>
              <a:t>Screenshot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3520440" cy="2011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Снимок экрана 2026-05-19 0215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67394"/>
            <a:ext cx="3520440" cy="19749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4B1CC"/>
                </a:solidFill>
                <a:latin typeface="Aptos"/>
              </a:rPr>
              <a:t>Screenshot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520440" cy="2011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Снимок экрана 2026-05-19 0219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485" y="3749039"/>
            <a:ext cx="2753708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89120" y="5779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4B1CC"/>
                </a:solidFill>
                <a:latin typeface="Aptos"/>
              </a:rPr>
              <a:t>Screenshot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749039"/>
            <a:ext cx="3520440" cy="2011680"/>
          </a:xfrm>
          <a:prstGeom prst="roundRect">
            <a:avLst/>
          </a:prstGeom>
          <a:solidFill>
            <a:srgbClr val="181C2A"/>
          </a:solidFill>
          <a:ln>
            <a:solidFill>
              <a:srgbClr val="212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Снимок экрана 2026-05-19 0224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3775" y="3749039"/>
            <a:ext cx="2963528" cy="2011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5779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4B1CC"/>
                </a:solidFill>
                <a:latin typeface="Aptos"/>
              </a:rPr>
              <a:t>Screenshot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B1CC"/>
                </a:solidFill>
                <a:latin typeface="Aptos"/>
              </a:rPr>
              <a:t>GameFi Economy Protocol | Arbitrum Sepolia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105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B1CC"/>
                </a:solidFill>
                <a:latin typeface="Aptos"/>
              </a:rPr>
              <a:t>Blockchain Technologies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